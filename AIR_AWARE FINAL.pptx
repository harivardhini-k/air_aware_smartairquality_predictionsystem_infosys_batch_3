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67" r:id="rId2"/>
    <p:sldId id="279" r:id="rId3"/>
    <p:sldId id="257" r:id="rId4"/>
    <p:sldId id="268" r:id="rId5"/>
    <p:sldId id="258" r:id="rId6"/>
    <p:sldId id="269" r:id="rId7"/>
    <p:sldId id="259" r:id="rId8"/>
    <p:sldId id="270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71" r:id="rId17"/>
    <p:sldId id="272" r:id="rId18"/>
    <p:sldId id="273" r:id="rId19"/>
    <p:sldId id="274" r:id="rId20"/>
    <p:sldId id="280" r:id="rId21"/>
    <p:sldId id="281" r:id="rId22"/>
    <p:sldId id="276" r:id="rId23"/>
    <p:sldId id="275" r:id="rId24"/>
    <p:sldId id="277" r:id="rId25"/>
    <p:sldId id="278" r:id="rId2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986" autoAdjust="0"/>
    <p:restoredTop sz="94660"/>
  </p:normalViewPr>
  <p:slideViewPr>
    <p:cSldViewPr snapToGrid="0" snapToObjects="1">
      <p:cViewPr varScale="1">
        <p:scale>
          <a:sx n="88" d="100"/>
          <a:sy n="88" d="100"/>
        </p:scale>
        <p:origin x="2000" y="79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3F60B8-7868-4EEC-991F-4A331B9EA7E3}" type="datetimeFigureOut">
              <a:rPr lang="en-IN" smtClean="0"/>
              <a:t>16-11-2025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091EE2-98A3-450E-A962-96C3FDE97E0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907733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091EE2-98A3-450E-A962-96C3FDE97E0A}" type="slidenum">
              <a:rPr lang="en-IN" smtClean="0"/>
              <a:t>17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139262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l="-8000" r="-8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ithub.com/harivardhini-K/Air_Aware_SmartAirQuality_PredictionSystem_infosys_Batch_3.git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D64BF-1A30-E393-A40F-4E4E3352CA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63940"/>
          </a:xfrm>
        </p:spPr>
        <p:txBody>
          <a:bodyPr/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9A1C0-AEC6-4C69-ACCD-CF7AE92013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540044" cy="523478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 Details: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tx2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 Title: Air Aware- Smart Air Quality Prediction System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tx2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 Purpose –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accurately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 Air Quality Index (AQI)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using machine learning algorithms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analyze major pollutants (CO, SO₂, NO₂, NH₃, Pb, PM2.5, PM10) using historical AQI datasets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provide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real-time visualization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comparative analytics through a web dashboard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tx2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Tools and Technologies – </a:t>
            </a: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Python, </a:t>
            </a:r>
            <a:r>
              <a:rPr lang="en-IN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Streamlit</a:t>
            </a: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Machine Learning, Algorithms, Pandas, NumPy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Plotly</a:t>
            </a: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Matplotlib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Scikit-Learn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VS Code/PyCharm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 Open-source )</a:t>
            </a:r>
            <a:endParaRPr lang="en-US" sz="1800" dirty="0">
              <a:solidFill>
                <a:schemeClr val="tx2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800" dirty="0">
                <a:solidFill>
                  <a:schemeClr val="tx2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Mentor –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Ms. Umme Asma S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tx2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Batch Number –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tx2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Start Date –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22-September-2025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tx2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 Name –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Harivardhini K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tx2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 Repository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</a:t>
            </a:r>
            <a:r>
              <a:rPr lang="en-US" sz="1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https://github.com/harivardhin</a:t>
            </a:r>
            <a:r>
              <a:rPr lang="en-US" sz="1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i-</a:t>
            </a:r>
            <a:r>
              <a:rPr lang="en-US" sz="1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K/Air_Aware_SmartAirQuality_PredictionSystem_infosys_Batch_3.git</a:t>
            </a:r>
            <a:endParaRPr lang="en-US" sz="18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IN" sz="18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2BB1B79-8013-9C7E-325C-6D0C32ED52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9566" y="324279"/>
            <a:ext cx="5997239" cy="714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9100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BEF786-1002-4910-E748-7D086EE35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38EA00-C74B-BFD1-D75E-4E654722FA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DECAB0-5A08-C980-91F0-FA03A0428E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E46DAE-CF96-4815-9909-5360C7BC3C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3999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48497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57262"/>
            <a:ext cx="8229600" cy="4525963"/>
          </a:xfrm>
        </p:spPr>
        <p:txBody>
          <a:bodyPr>
            <a:normAutofit lnSpcReduction="10000"/>
          </a:bodyPr>
          <a:lstStyle/>
          <a:p>
            <a:pPr marL="0" indent="0">
              <a:buNone/>
              <a:defRPr sz="1800">
                <a:solidFill>
                  <a:srgbClr val="1E1E1E"/>
                </a:solidFill>
                <a:latin typeface="Times New Roman"/>
              </a:defRPr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Description:</a:t>
            </a:r>
            <a:b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Air Aware is an AI-powered system designed to monitor and predict the Air Quality Index (AQI) using machine learning models, authenticated datasets, and an interactive analytics dashboard. The system provides real-time insights, pollutant-level analysis, and future AQI forecasting to help users understand environmental health conditions and make informed decisions.</a:t>
            </a:r>
          </a:p>
          <a:p>
            <a:pPr marL="0" indent="0">
              <a:buNone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Purpose of the Project: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accurately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 Air Quality Index (AQI)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using machine learning algorithms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analyze major pollutants (CO, SO₂, NO₂, NH₃, Pb, PM2.5, PM10) using historical AQI datasets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provide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real-time visualization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comparative analytics through a web dashboard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help individuals, communities, and authorities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identify pollution risks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early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create a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low-cost, scalable, AI-based solution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air quality monitoring without hardware dependency</a:t>
            </a:r>
          </a:p>
          <a:p>
            <a:pPr marL="0" indent="0" algn="l">
              <a:buNone/>
              <a:defRPr sz="1800">
                <a:solidFill>
                  <a:srgbClr val="1E1E1E"/>
                </a:solidFill>
                <a:latin typeface="Times New Roman"/>
              </a:defRPr>
            </a:pPr>
            <a:endParaRPr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AAB654-0491-ED68-42F5-283B70E510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 Tools &amp; Technologies Implemented</a:t>
            </a: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FCBA98-527B-DB40-1852-59285C720B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36663"/>
            <a:ext cx="8229600" cy="45259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IN" sz="1800" b="1" i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&amp; Languages</a:t>
            </a:r>
          </a:p>
          <a:p>
            <a:pPr>
              <a:buFont typeface="+mj-lt"/>
              <a:buAutoNum type="arabicPeriod"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ML </a:t>
            </a:r>
            <a:r>
              <a:rPr lang="en-IN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modeling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data processing</a:t>
            </a:r>
          </a:p>
          <a:p>
            <a:pPr>
              <a:buFont typeface="+mj-lt"/>
              <a:buAutoNum type="arabicPeriod"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Streamlit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Interactive web dashboard</a:t>
            </a:r>
          </a:p>
          <a:p>
            <a:pPr>
              <a:buFont typeface="+mj-lt"/>
              <a:buAutoNum type="arabicPeriod"/>
            </a:pPr>
            <a:r>
              <a:rPr lang="en-IN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Jupyter</a:t>
            </a: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Notebook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Data analysis &amp; model development</a:t>
            </a:r>
          </a:p>
          <a:p>
            <a:pPr marL="0" indent="0">
              <a:buNone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 Tools</a:t>
            </a:r>
          </a:p>
          <a:p>
            <a:pPr>
              <a:buFont typeface="+mj-lt"/>
              <a:buAutoNum type="arabicPeriod"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Scikit-learn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Regression &amp; prediction models</a:t>
            </a:r>
          </a:p>
          <a:p>
            <a:pPr>
              <a:buFont typeface="+mj-lt"/>
              <a:buAutoNum type="arabicPeriod"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Pandas, NumPy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Data cleaning, transformation</a:t>
            </a:r>
          </a:p>
          <a:p>
            <a:pPr>
              <a:buFont typeface="+mj-lt"/>
              <a:buAutoNum type="arabicPeriod"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Matplotlib / </a:t>
            </a:r>
            <a:r>
              <a:rPr lang="en-IN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Plotly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Data visualization</a:t>
            </a:r>
          </a:p>
          <a:p>
            <a:pPr marL="0" indent="0">
              <a:buNone/>
            </a:pPr>
            <a:r>
              <a:rPr lang="en-IN" sz="1800" b="1" i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Datasets</a:t>
            </a:r>
          </a:p>
          <a:p>
            <a:pPr marL="0" indent="0">
              <a:buNone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Public AQI datasets (CPCB / Kaggle / OpenAQ)</a:t>
            </a:r>
          </a:p>
          <a:p>
            <a:pPr marL="0" indent="0">
              <a:buNone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Includes pollutant concentrations, weather variables &amp; historical AQI values</a:t>
            </a:r>
          </a:p>
          <a:p>
            <a:pPr marL="0" indent="0">
              <a:buNone/>
            </a:pPr>
            <a:r>
              <a:rPr lang="en-IN" sz="1800" b="1" i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Deployment</a:t>
            </a:r>
          </a:p>
          <a:p>
            <a:pPr marL="0" indent="0">
              <a:buNone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Local or cloud-hosted Streamlit dashboard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96072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Understanding AQI (Air Quality Index)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Definition:</a:t>
            </a:r>
            <a:b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Air Quality Index (AQI) is a standardized numerical scale that indicates the quality of air in a specific region. It communicates how polluted the air is at present or how polluted it is expected to become.</a:t>
            </a:r>
          </a:p>
          <a:p>
            <a:pPr marL="0" indent="0"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Purpose of AQI: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Helps citizens understand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daily air pollution levels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Indicates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health impacts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associated with pollutant concentration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Assists government and environmental agencies in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air quality management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a unified metric for comparing pollution across cities</a:t>
            </a:r>
          </a:p>
          <a:p>
            <a:pPr marL="0" indent="0"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Pollutants That Affect AQI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AQI is influenced by the concentration of major pollutants released from vehicles, industries, dust sources, and burning activities.</a:t>
            </a:r>
          </a:p>
          <a:p>
            <a:pPr marL="0" indent="0"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  <a:defRPr sz="1800">
                <a:solidFill>
                  <a:srgbClr val="1E1E1E"/>
                </a:solidFill>
                <a:latin typeface="Times New Roman"/>
              </a:defRPr>
            </a:pPr>
            <a:endParaRPr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47601B-634E-DB0C-5643-8B91A64086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9664" y="441960"/>
            <a:ext cx="8229600" cy="4525963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five critical pollutants affecting AQI include: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Carbon Monoxide (CO)</a:t>
            </a: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Produced by incomplete combustion (vehicles, generators)</a:t>
            </a: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Reduces oxygen-carrying capacity of blood</a:t>
            </a:r>
          </a:p>
          <a:p>
            <a:pPr marL="0" indent="0">
              <a:buNone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Sulphur Dioxide (SO₂)</a:t>
            </a: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Emitted from coal, oil, and industrial activities</a:t>
            </a: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Causes respiratory irritation and smog formation</a:t>
            </a:r>
          </a:p>
          <a:p>
            <a:pPr marL="0" indent="0">
              <a:buNone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Nitrogen Dioxide (NO₂)</a:t>
            </a: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Released from vehicle exhausts, power plants</a:t>
            </a: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Leads to lung inflammation and ozone formation</a:t>
            </a:r>
          </a:p>
          <a:p>
            <a:pPr marL="0" indent="0">
              <a:buNone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Ammonia (NH₃)</a:t>
            </a: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Originates from fertilizers, cleaning chemicals, waste</a:t>
            </a: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Causes eye and skin irritation</a:t>
            </a:r>
          </a:p>
          <a:p>
            <a:pPr marL="0" indent="0">
              <a:buNone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Lead (Pb)</a:t>
            </a: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Comes from metal smelting, old fuels, battery industries</a:t>
            </a: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Affects the nervous system and cognitive development</a:t>
            </a:r>
          </a:p>
          <a:p>
            <a:pPr marL="0" indent="0">
              <a:buNone/>
            </a:pP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01968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to Measure AQI Factors</a:t>
            </a:r>
            <a:endParaRPr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5259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Measurement Methods for Key Pollutants</a:t>
            </a:r>
          </a:p>
          <a:p>
            <a:pPr marL="0" indent="0">
              <a:buNone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Carbon Monoxide (CO)</a:t>
            </a: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Measured using </a:t>
            </a: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Non-Dispersive Infrared (NDIR) </a:t>
            </a:r>
            <a:r>
              <a:rPr lang="en-IN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analyzers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Collects CO concentration in parts per million (ppm)</a:t>
            </a:r>
          </a:p>
          <a:p>
            <a:pPr marL="0" indent="0">
              <a:buNone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Sulphur Dioxide (SO₂)</a:t>
            </a: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Measured using </a:t>
            </a: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UV Fluorescence </a:t>
            </a:r>
            <a:r>
              <a:rPr lang="en-IN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analyzers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Determines SO₂ concentration in micrograms per cubic meter (µg/m³)</a:t>
            </a:r>
          </a:p>
          <a:p>
            <a:pPr marL="0" indent="0">
              <a:buNone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Nitrogen Dioxide (NO₂)</a:t>
            </a: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Measured using </a:t>
            </a: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Chemiluminescence </a:t>
            </a:r>
            <a:r>
              <a:rPr lang="en-IN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analyzers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Widely used by agencies for NOx (NO + NO₂) detection</a:t>
            </a:r>
          </a:p>
          <a:p>
            <a:pPr marL="0" indent="0">
              <a:buNone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Ammonia (NH₃)</a:t>
            </a: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Measured using </a:t>
            </a: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Cavity Ring-Down Spectroscopy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or </a:t>
            </a: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Chemical absorption methods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Values recorded in µg/m³</a:t>
            </a:r>
          </a:p>
          <a:p>
            <a:pPr marL="0" indent="0">
              <a:buNone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Lead (Pb)</a:t>
            </a: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Measured using </a:t>
            </a: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High-Volume Air Samplers (HVAS)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Filters are </a:t>
            </a:r>
            <a:r>
              <a:rPr lang="en-IN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analyzed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 labs using </a:t>
            </a: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Atomic Absorption Spectroscopy (AAS)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b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  <a:defRPr sz="1800">
                <a:solidFill>
                  <a:srgbClr val="1E1E1E"/>
                </a:solidFill>
                <a:latin typeface="Times New Roman"/>
              </a:defRPr>
            </a:pPr>
            <a:endParaRPr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F52AA3-5427-8563-4607-3B4EA6395C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Additional AQI Pollutants (Often Included in Datasets)</a:t>
            </a:r>
          </a:p>
          <a:p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PM2.5 &amp; PM10: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Measured using Beta Attenuation Monitors and Laser Scattering</a:t>
            </a:r>
          </a:p>
          <a:p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Ozone (O₃):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Measured using UV Photometric </a:t>
            </a:r>
            <a:r>
              <a:rPr lang="en-IN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analyzers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IN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pitchFamily="2" charset="2"/>
              <a:buChar char="q"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Used in This AI Project</a:t>
            </a:r>
          </a:p>
          <a:p>
            <a:pPr marL="0" indent="0">
              <a:buNone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Since this is a </a:t>
            </a: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software-only AI model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pollutant data is taken from:</a:t>
            </a:r>
          </a:p>
          <a:p>
            <a:pPr>
              <a:buFont typeface="+mj-lt"/>
              <a:buAutoNum type="arabicPeriod"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CPCB (Central Pollution Control Board)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+mj-lt"/>
              <a:buAutoNum type="arabicPeriod"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OpenAQ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+mj-lt"/>
              <a:buAutoNum type="arabicPeriod"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Kaggle AQI datasets</a:t>
            </a:r>
            <a:b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These datasets already include pollutant concentrations measured by certified monitoring stations.</a:t>
            </a:r>
          </a:p>
          <a:p>
            <a:pPr marL="0" indent="0">
              <a:buNone/>
            </a:pP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13237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3018"/>
            <a:ext cx="8229600" cy="1143000"/>
          </a:xfrm>
        </p:spPr>
        <p:txBody>
          <a:bodyPr>
            <a:normAutofit/>
          </a:bodyPr>
          <a:lstStyle/>
          <a:p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AQI Monitoring Agencies &amp; Applications</a:t>
            </a:r>
            <a:endParaRPr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5259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International Agencies</a:t>
            </a:r>
          </a:p>
          <a:p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WHO (World Health Organization)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Sets global air quality guidelines and pollutant limits.</a:t>
            </a:r>
          </a:p>
          <a:p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EPA (Environmental Protection Agency, USA)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Defines U.S. AQI scale; monitors PM, CO, NO₂, SO₂, O₃.</a:t>
            </a:r>
          </a:p>
          <a:p>
            <a:pPr marL="0" indent="0">
              <a:buNone/>
            </a:pP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Indian AQI Agencies</a:t>
            </a:r>
          </a:p>
          <a:p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CPCB (Central Pollution Control Board)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Maintains National AQI (NAQI) and runs CAAQMS monitoring stations.</a:t>
            </a:r>
          </a:p>
          <a:p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SAFAR (System of Air Quality and Weather Forecasting and Research)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Metro-city AQI updates and short-term pollution forecasts.</a:t>
            </a:r>
          </a:p>
          <a:p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SPCBs (State Pollution Control Boards)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State-level air quality monitoring and reporting.</a:t>
            </a:r>
          </a:p>
          <a:p>
            <a:pPr marL="0" indent="0">
              <a:buNone/>
            </a:pP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Popular AQI Apps/Web Platforms</a:t>
            </a:r>
          </a:p>
          <a:p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SAFAR-Air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Govt real-time AQI + weather</a:t>
            </a:r>
          </a:p>
          <a:p>
            <a:r>
              <a:rPr lang="en-IN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IQAir</a:t>
            </a: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AirVisual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City-wise world AQI rankings</a:t>
            </a:r>
          </a:p>
          <a:p>
            <a:pPr marL="0" indent="0" algn="l">
              <a:buNone/>
              <a:defRPr sz="1800">
                <a:solidFill>
                  <a:srgbClr val="1E1E1E"/>
                </a:solidFill>
                <a:latin typeface="Times New Roman"/>
              </a:defRPr>
            </a:pPr>
            <a:endParaRPr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Major Contributors to Air Pollution</a:t>
            </a:r>
            <a:b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Air pollution is caused by multiple human-made and natural activities. While some sources receive national attention, many everyday activities significantly degrade local air quality.</a:t>
            </a:r>
          </a:p>
          <a:p>
            <a:pPr marL="0" indent="0"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Common Pollution Sources Across Indian Cities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Vehicular Emissions: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Cars, trucks, buses releasing CO, NO₂, PM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Industrial Pollution: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Factories, chemical plants, smelting units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Construction Activities: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Dust, cement particles, PM10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Solid Fuel Combustion: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Coal, firewood, and charcoal used for cooking/heating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Biomass Burning: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Dry leaves, agricultural waste, garbage burning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Diesel Generators: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Backup power sources releasing NOx and PM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Wood Burning: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Domestic and small-scale heating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Urban Irritants: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Road dust, open waste dumping, small workshops</a:t>
            </a:r>
          </a:p>
          <a:p>
            <a:pPr marL="0" indent="0" algn="l">
              <a:buNone/>
              <a:defRPr sz="1800">
                <a:solidFill>
                  <a:srgbClr val="1E1E1E"/>
                </a:solidFill>
                <a:latin typeface="Times New Roman"/>
              </a:defRPr>
            </a:pPr>
            <a:endParaRPr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73608"/>
            <a:ext cx="8229600" cy="4525963"/>
          </a:xfrm>
        </p:spPr>
        <p:txBody>
          <a:bodyPr>
            <a:noAutofit/>
          </a:bodyPr>
          <a:lstStyle/>
          <a:p>
            <a:pPr>
              <a:buFont typeface="Wingdings" panose="05000000000000000000" pitchFamily="2" charset="2"/>
              <a:buChar char="ü"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Region-Specific High-Impact Sources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Brick-making industries near Delhi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emit large quantities of PM10 and SO₂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Stubble burning in Punjab and Haryana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contributes to severe seasonal smog</a:t>
            </a:r>
            <a:b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These activities often dominate national headlines due to their scale and impact.</a:t>
            </a:r>
          </a:p>
          <a:p>
            <a:pPr marL="0" indent="0">
              <a:buNone/>
            </a:pP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Regulated Pollutant Categories in India</a:t>
            </a:r>
          </a:p>
          <a:p>
            <a:pPr marL="0" indent="0">
              <a:buNone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According to national air quality standards, India monitors and regulates </a:t>
            </a: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eight key pollutants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which determine the AQI:</a:t>
            </a:r>
          </a:p>
          <a:p>
            <a:pPr>
              <a:buFont typeface="+mj-lt"/>
              <a:buAutoNum type="arabicPeriod"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Ground-level Ozone (O₃)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+mj-lt"/>
              <a:buAutoNum type="arabicPeriod"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Particulate Matter (PM10)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+mj-lt"/>
              <a:buAutoNum type="arabicPeriod"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Particulate Matter (PM2.5)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+mj-lt"/>
              <a:buAutoNum type="arabicPeriod"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Carbon Monoxide (CO)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+mj-lt"/>
              <a:buAutoNum type="arabicPeriod"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Sulphur Dioxide (SO₂)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+mj-lt"/>
              <a:buAutoNum type="arabicPeriod"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Nitrogen Dioxide (NO₂)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+mj-lt"/>
              <a:buAutoNum type="arabicPeriod"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Ammonia (NH₃)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+mj-lt"/>
              <a:buAutoNum type="arabicPeriod"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Lead (Pb)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These pollutants collectively define the level of air pollution in any region.</a:t>
            </a:r>
          </a:p>
          <a:p>
            <a:pPr marL="0" indent="0" algn="l">
              <a:buNone/>
              <a:defRPr sz="1800">
                <a:solidFill>
                  <a:srgbClr val="1E1E1E"/>
                </a:solidFill>
                <a:latin typeface="Times New Roman"/>
              </a:defRPr>
            </a:pPr>
            <a:endParaRPr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Impact of Air Pollution on Humans &amp; the Earth</a:t>
            </a:r>
            <a:b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Harmful Effects on Human Health</a:t>
            </a: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Short-Term Health Effects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Coughing, throat irritation, burning eyes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Breathing discomfort, wheezing, shortness of breath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Headaches and dizziness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Allergic reactions and increased asthma symptoms</a:t>
            </a:r>
          </a:p>
          <a:p>
            <a:pPr>
              <a:buFont typeface="Wingdings" panose="05000000000000000000" pitchFamily="2" charset="2"/>
              <a:buChar char="v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Long-Term Health Effects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Chronic bronchitis and asthma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Reduced lung function and lung cancer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Cardiovascular diseases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Premature aging of lungs and long-term tissue damage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Negative developmental effects in children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Increased risk of stroke, heart attacks, and early mortality</a:t>
            </a:r>
          </a:p>
          <a:p>
            <a:pPr marL="0" indent="0">
              <a:buNone/>
            </a:pP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  <a:defRPr sz="1800">
                <a:solidFill>
                  <a:srgbClr val="1E1E1E"/>
                </a:solidFill>
                <a:latin typeface="Times New Roman"/>
              </a:defRPr>
            </a:pP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Harmful Effects on the Earth &amp; Environment</a:t>
            </a: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9664" y="1166018"/>
            <a:ext cx="8229600" cy="45259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Climate &amp; Atmospheric Impact</a:t>
            </a:r>
          </a:p>
          <a:p>
            <a:pPr>
              <a:buFont typeface="+mj-lt"/>
              <a:buAutoNum type="arabicPeriod"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Global Warming: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Pollutants trap heat and increase Earth’s temperature</a:t>
            </a:r>
          </a:p>
          <a:p>
            <a:pPr>
              <a:buFont typeface="+mj-lt"/>
              <a:buAutoNum type="arabicPeriod"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Ozone Layer Damage: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Certain gases contribute to ozone depletion</a:t>
            </a:r>
          </a:p>
          <a:p>
            <a:pPr>
              <a:buFont typeface="+mj-lt"/>
              <a:buAutoNum type="arabicPeriod"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Smog Formation: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Reduces visibility and worsens city air quality</a:t>
            </a:r>
          </a:p>
          <a:p>
            <a:pPr>
              <a:buFont typeface="+mj-lt"/>
              <a:buAutoNum type="arabicPeriod"/>
            </a:pP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Environmental &amp; Ecological Damage</a:t>
            </a:r>
          </a:p>
          <a:p>
            <a:pPr>
              <a:buFont typeface="+mj-lt"/>
              <a:buAutoNum type="arabicPeriod"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Acid Rain: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Causes soil acidification and affects water bodies</a:t>
            </a:r>
          </a:p>
          <a:p>
            <a:pPr>
              <a:buFont typeface="+mj-lt"/>
              <a:buAutoNum type="arabicPeriod"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Crop Damage: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Ozone and particulate matter reduce agricultural yield</a:t>
            </a:r>
          </a:p>
          <a:p>
            <a:pPr>
              <a:buFont typeface="+mj-lt"/>
              <a:buAutoNum type="arabicPeriod"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Soil Degradation: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Chemical deposits alter soil nutrients</a:t>
            </a:r>
          </a:p>
          <a:p>
            <a:pPr>
              <a:buFont typeface="+mj-lt"/>
              <a:buAutoNum type="arabicPeriod"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Water Pollution: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Pollutants settle into rivers and lakes</a:t>
            </a:r>
          </a:p>
          <a:p>
            <a:pPr marL="0" indent="0">
              <a:buNone/>
            </a:pP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Ecosystem Imbalance</a:t>
            </a:r>
          </a:p>
          <a:p>
            <a:pPr>
              <a:buFont typeface="+mj-lt"/>
              <a:buAutoNum type="arabicPeriod"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Harm to birds, animals, insects, and aquatic life</a:t>
            </a:r>
          </a:p>
          <a:p>
            <a:pPr>
              <a:buFont typeface="+mj-lt"/>
              <a:buAutoNum type="arabicPeriod"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Disruption in natural food chains</a:t>
            </a:r>
          </a:p>
          <a:p>
            <a:pPr>
              <a:buFont typeface="+mj-lt"/>
              <a:buAutoNum type="arabicPeriod"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Reduced biodiversity in forests and urban green zones</a:t>
            </a:r>
          </a:p>
          <a:p>
            <a:pPr marL="0" indent="0" algn="l">
              <a:buNone/>
              <a:defRPr sz="1800">
                <a:solidFill>
                  <a:srgbClr val="1E1E1E"/>
                </a:solidFill>
                <a:latin typeface="Times New Roman"/>
              </a:defRPr>
            </a:pPr>
            <a:endParaRPr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Solutions to Reduce Air Pollution</a:t>
            </a:r>
            <a:b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51560"/>
            <a:ext cx="8229600" cy="45259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Technological Solutions</a:t>
            </a:r>
          </a:p>
          <a:p>
            <a:pPr marL="0" indent="0">
              <a:buNone/>
            </a:pPr>
            <a:endParaRPr lang="en-IN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+mj-lt"/>
              <a:buAutoNum type="arabicPeriod"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Air Purifiers</a:t>
            </a: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Remove particulate matter (PM2.5, PM10) and harmful gases</a:t>
            </a: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Useful for homes, hospitals, offices, and polluted urban areas</a:t>
            </a:r>
          </a:p>
          <a:p>
            <a:pPr marL="0" indent="0">
              <a:buNone/>
            </a:pP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2.Emission Control Technologies</a:t>
            </a: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Catalytic converters for vehicles</a:t>
            </a: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Industrial scrubbers to reduce SO₂ and NOx emissions</a:t>
            </a:r>
          </a:p>
          <a:p>
            <a:pPr marL="0" indent="0">
              <a:buNone/>
            </a:pP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Electric Vehicles (EVs)</a:t>
            </a: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 reliance on fossil fuels</a:t>
            </a: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Lower CO, NO₂, and particulate emissions</a:t>
            </a:r>
          </a:p>
          <a:p>
            <a:pPr marL="0" indent="0">
              <a:buNone/>
            </a:pP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Renewable Energy Adoption</a:t>
            </a: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Transition to solar, wind, and hydro reduces combustion pollutants</a:t>
            </a:r>
          </a:p>
          <a:p>
            <a:pPr marL="0" indent="0">
              <a:buNone/>
            </a:pPr>
            <a:b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  <a:defRPr sz="1800">
                <a:solidFill>
                  <a:srgbClr val="1E1E1E"/>
                </a:solidFill>
                <a:latin typeface="Times New Roman"/>
              </a:defRPr>
            </a:pPr>
            <a:endParaRPr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539496"/>
            <a:ext cx="8229600" cy="45259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Urban &amp; Environmental Solutions</a:t>
            </a:r>
          </a:p>
          <a:p>
            <a:pPr marL="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Greenery &amp; Plantation Drives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Trees absorb CO₂, SO₂, and PM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Improves oxygen levels and reduces heat islands</a:t>
            </a:r>
          </a:p>
          <a:p>
            <a:pPr marL="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Dust Control Measures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Water sprinkling, covering construction sites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Reduces PM10 and PM2.5 spread in urban areas</a:t>
            </a:r>
          </a:p>
          <a:p>
            <a:pPr marL="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Waste Management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Reducing open garbage burning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Promoting recycling and safe disposal</a:t>
            </a:r>
          </a:p>
          <a:p>
            <a:pPr marL="0" indent="0"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Governmental &amp; Policy-Based Solutions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of stricter pollution standards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Odd-even vehicle schemes, traffic restrictions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Banning of high-emission fuels and outdated vehicles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Promotion of public transport and carpooling</a:t>
            </a:r>
          </a:p>
          <a:p>
            <a:pPr marL="0" indent="0" algn="l">
              <a:buNone/>
              <a:defRPr sz="1800">
                <a:solidFill>
                  <a:srgbClr val="1E1E1E"/>
                </a:solidFill>
                <a:latin typeface="Times New Roman"/>
              </a:defRPr>
            </a:pPr>
            <a:endParaRPr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A1501D-4853-6732-7ACB-AAB0B7E82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Impact of the Project on Earth, Humanity &amp; the World</a:t>
            </a:r>
            <a:b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EAB7AF-E1FB-8ABA-9485-BB9306C99E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sz="2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🌍 Overall Impact</a:t>
            </a:r>
          </a:p>
          <a:p>
            <a:pPr marL="0" indent="0">
              <a:buNone/>
            </a:pP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Your AI-powered Air Quality Prediction and Awareness System creates </a:t>
            </a:r>
            <a:r>
              <a:rPr lang="en-US" sz="2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tangible environmental and societal benefits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0" indent="0">
              <a:buNone/>
            </a:pPr>
            <a:r>
              <a:rPr lang="en-US" sz="2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Promotes cleaner ecosystems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by helping citizens understand pollution patterns and take preventive actions.</a:t>
            </a:r>
          </a:p>
          <a:p>
            <a:pPr marL="0" indent="0">
              <a:buNone/>
            </a:pPr>
            <a:r>
              <a:rPr lang="en-US" sz="2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Supports government/environmental planning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with early warnings and predictive insights.</a:t>
            </a:r>
          </a:p>
          <a:p>
            <a:pPr marL="0" indent="0">
              <a:buNone/>
            </a:pPr>
            <a:r>
              <a:rPr lang="en-US" sz="2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👥 Impact on Humanity</a:t>
            </a:r>
          </a:p>
          <a:p>
            <a:pPr marL="0" indent="0">
              <a:buNone/>
            </a:pP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Helps people avoid respiratory issues, asthma triggers, and long-term illnesses.</a:t>
            </a:r>
          </a:p>
          <a:p>
            <a:pPr marL="0" indent="0">
              <a:buNone/>
            </a:pP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Empowers communities to demand better local environmental policies.</a:t>
            </a:r>
          </a:p>
          <a:p>
            <a:pPr marL="0" indent="0">
              <a:buNone/>
            </a:pPr>
            <a:r>
              <a:rPr lang="en-US" sz="2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🌐 Global Impact</a:t>
            </a:r>
          </a:p>
          <a:p>
            <a:pPr marL="0" indent="0">
              <a:buNone/>
            </a:pP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Aligns with </a:t>
            </a:r>
            <a:r>
              <a:rPr lang="en-US" sz="2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 Sustainable Development Goals (SDG 3 – Good Health &amp; Well-being, SDG 11 – Sustainable Cities)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379750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5A4AA1-B3DA-2067-D1A0-7F91E9644D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🧠 Coding Details (Tech Stack Used)</a:t>
            </a:r>
            <a:br>
              <a:rPr lang="en-US" b="1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F238FB-372B-1D9C-F2BB-A57456F091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is </a:t>
            </a: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pure AI + software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no hardware involved.</a:t>
            </a:r>
          </a:p>
          <a:p>
            <a:pPr marL="0" indent="0">
              <a:buNone/>
            </a:pP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Technologies Used:</a:t>
            </a:r>
          </a:p>
          <a:p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core programming language</a:t>
            </a:r>
          </a:p>
          <a:p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Streamlit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for interactive dashboard</a:t>
            </a:r>
          </a:p>
          <a:p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 Algorithms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Linear Regression / Random Forest for AQI prediction</a:t>
            </a:r>
          </a:p>
          <a:p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Pandas, NumPy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data cleaning &amp; processing</a:t>
            </a:r>
          </a:p>
          <a:p>
            <a:r>
              <a:rPr lang="en-IN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Plotly</a:t>
            </a: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Matplotlib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visualization and charts</a:t>
            </a:r>
          </a:p>
          <a:p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Scikit-Learn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model training and testing</a:t>
            </a:r>
          </a:p>
          <a:p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VS Code / PyCharm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coding environment</a:t>
            </a:r>
          </a:p>
          <a:p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Open-source air quality datasets (e.g., CPCB, Kaggle AQI data)</a:t>
            </a:r>
          </a:p>
          <a:p>
            <a:pPr marL="0" indent="0">
              <a:buNone/>
            </a:pP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39962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E832F2-6A14-F656-CCAC-C7F8610BC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the Project Solves the Problem</a:t>
            </a:r>
            <a:b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44F2D1-CB83-C22F-EC42-F428FCC7A5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856" y="978408"/>
            <a:ext cx="8229600" cy="45259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✅ 1. Predicts Air Quality Before It Becomes Harmful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Your AI model analyzes historical pollutant data and predicts AQI levels, giving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early warnings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so people can avoid exposure.</a:t>
            </a:r>
          </a:p>
          <a:p>
            <a:pPr marL="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✅ 2. Makes Pollution Data Understandable for Everyone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Through your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Streamlit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dashboard, users can: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View AQI in simple colors &amp; charts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Track trends for PM2.5, PM10, NO₂, CO, SO₂, NH₃</a:t>
            </a:r>
          </a:p>
          <a:p>
            <a:pPr marL="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✅ 3. Helps People Take Preventive Actions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With alerts and predictions, users can: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Avoid outdoor activities during high AQI</a:t>
            </a:r>
          </a:p>
          <a:p>
            <a:pPr marL="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✅ 4. Supports Organizations &amp; Agencies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Authorities and NGOs can use prediction data to: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Plan traffic &amp; industrial operations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 pollution control measures</a:t>
            </a:r>
          </a:p>
          <a:p>
            <a:pPr marL="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✅ 5. Contributes to Environmental Sustainability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By enabling awareness, your system drives: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Cleaner habits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becomes a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small but significant step toward a greener planet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>
              <a:buNone/>
            </a:pP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65885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12C8B4-49A8-48D6-072C-EFFF8414D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🌟 Future Enhancements</a:t>
            </a: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A85855-3228-1AAB-76C5-C3629F7607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🔹 1. Real-Time API Integration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🔹 2. Deep Learning-Based Prediction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🔹 3. Location-Based Personalized Alerts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🔹 4. Health Impact Suggestions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🔹 5. Historical Data Comparison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🔹 6. Anomaly Detection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🔹 7. Predictive “What-If” Analysis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🔹 8. Integration with Satellite Air Quality Data</a:t>
            </a:r>
          </a:p>
          <a:p>
            <a:pPr marL="0" indent="0">
              <a:buNone/>
            </a:pP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60780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84688D-5A74-5579-91EB-E580A6C23D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Dashboards</a:t>
            </a:r>
            <a:endParaRPr lang="en-IN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40AF880-9A4B-2F28-E24B-65B3C26C63C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1422" y="1283145"/>
            <a:ext cx="4227689" cy="214585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CD5F102-D54C-EAC1-A2AC-E70F4518D8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236028"/>
            <a:ext cx="4307785" cy="222398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C561DD2-0C00-9CA3-B805-1331C4928F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216" y="3460010"/>
            <a:ext cx="4194896" cy="233079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F84F234-DBB9-0902-C015-A75E587E11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519981"/>
            <a:ext cx="4351849" cy="2223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82438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FD339-B4DE-2675-5665-83322B100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EA7A658-0D21-7905-0650-445FFC155B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1492"/>
            <a:ext cx="4381500" cy="219514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C8A09E4-5C31-CFD4-0BD1-FECCE2B2F1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1501" y="25187"/>
            <a:ext cx="4762498" cy="223532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659F5DC-3B79-DCF2-41E8-ABB66BF7E8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2181077"/>
            <a:ext cx="4491201" cy="227771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1631F6E-7083-2768-25C5-EA0BB9E4748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3579" y="2181079"/>
            <a:ext cx="4650419" cy="22353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4589DB3-6C9D-A6EF-7314-BDFD5537F35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5966" y="4416403"/>
            <a:ext cx="4578793" cy="241640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480E2B1-81B8-78BC-74F1-419FAFC0607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2827" y="4416402"/>
            <a:ext cx="4578794" cy="2441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58432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43EE4F-C826-C62B-2DBF-CB44D48B0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Steps to Run the Project</a:t>
            </a:r>
            <a:b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542A66-97E5-609D-F463-16A38B3444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6512" y="873570"/>
            <a:ext cx="8229600" cy="45259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Clone the Project Repository</a:t>
            </a:r>
          </a:p>
          <a:p>
            <a:pPr marL="0" indent="0">
              <a:buNone/>
            </a:pP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Download or clone the GitHub repo:</a:t>
            </a:r>
            <a:b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Air_Aware_SmartAirQuality_PredictionSystem_infosys_Batch_3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Extract the folder to your local system.</a:t>
            </a:r>
          </a:p>
          <a:p>
            <a:pPr marL="0" indent="0">
              <a:buNone/>
            </a:pPr>
            <a:r>
              <a:rPr lang="en-US" sz="1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Install Required Software</a:t>
            </a:r>
          </a:p>
          <a:p>
            <a:pPr marL="0" indent="0">
              <a:buNone/>
            </a:pP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Make sure the following are installed:</a:t>
            </a:r>
          </a:p>
          <a:p>
            <a:pPr marL="0" indent="0">
              <a:buNone/>
            </a:pPr>
            <a:r>
              <a:rPr lang="en-US" sz="1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3.10+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Pip / Virtual Environment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5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Streamlit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5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Jupyter</a:t>
            </a:r>
            <a:r>
              <a:rPr lang="en-US" sz="1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Notebook (optional)</a:t>
            </a:r>
            <a:b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Install required libraries using:</a:t>
            </a:r>
          </a:p>
          <a:p>
            <a:pPr marL="0" indent="0">
              <a:buNone/>
            </a:pP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pip install -r requirements.txt</a:t>
            </a:r>
          </a:p>
          <a:p>
            <a:pPr marL="0" indent="0">
              <a:buNone/>
            </a:pPr>
            <a:r>
              <a:rPr lang="en-US" sz="1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Set Up the Virtual Environment (Recommended)</a:t>
            </a:r>
          </a:p>
          <a:p>
            <a:pPr marL="0" indent="0">
              <a:buNone/>
            </a:pP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-m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venv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venv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venv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\Scripts\activate       (for Windows)</a:t>
            </a:r>
          </a:p>
          <a:p>
            <a:pPr marL="0" indent="0">
              <a:buNone/>
            </a:pP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keeps dependencies clean and project-specific.</a:t>
            </a:r>
          </a:p>
          <a:p>
            <a:pPr marL="0" indent="0">
              <a:buNone/>
            </a:pPr>
            <a:r>
              <a:rPr lang="en-US" sz="1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Prepare the Dataset</a:t>
            </a:r>
          </a:p>
          <a:p>
            <a:pPr marL="0" indent="0">
              <a:buNone/>
            </a:pP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Ensure the dataset CSV files are placed in the specified </a:t>
            </a:r>
            <a:r>
              <a:rPr lang="en-US" sz="15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data/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directory.</a:t>
            </a:r>
          </a:p>
          <a:p>
            <a:pPr marL="0" indent="0">
              <a:buNone/>
            </a:pP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model uses pollutant features like PM2.5, PM10, NO₂, SO₂, CO, NH₃ for AQI prediction.</a:t>
            </a:r>
          </a:p>
          <a:p>
            <a:pPr marL="0" indent="0">
              <a:buNone/>
            </a:pP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hardware sensors are required — it is fully AI-based.</a:t>
            </a:r>
          </a:p>
          <a:p>
            <a:pPr marL="0" indent="0">
              <a:buNone/>
            </a:pPr>
            <a:b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IN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39015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96AF74-6D94-861D-5B63-EC7656DA0B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893064"/>
            <a:ext cx="8229600" cy="45259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Run the Model Training (Only if Needed)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you want to retrain: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model_training.py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generates: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Trained ML model (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RandomForest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/Regressor, etc.)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Saved .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pkl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model file for prediction.</a:t>
            </a:r>
          </a:p>
          <a:p>
            <a:pPr marL="0" indent="0"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Launch the </a:t>
            </a:r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Streamlit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Dashboard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 the application:</a:t>
            </a:r>
          </a:p>
          <a:p>
            <a:pPr marL="0" indent="0">
              <a:buNone/>
            </a:pP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streamlit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run M4_Main_Dashboard.py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opens the interactive dashboard with: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Live AQI predictions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 charts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Pollutant trends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AQI category insights</a:t>
            </a:r>
          </a:p>
          <a:p>
            <a:pPr marL="0" indent="0">
              <a:buNone/>
            </a:pP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961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B4E3C7-79EC-83B6-F07B-650C0E131F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704" y="259080"/>
            <a:ext cx="8229600" cy="45259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View Results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Once the dashboard opens: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 the city or dataset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View real-time/forecasted AQI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Explore pollutant-level visualizations</a:t>
            </a:r>
          </a:p>
          <a:p>
            <a:pPr marL="0" indent="0"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8. Modify or Extend the Project (Optional)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You can: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Edit model accuracy configuration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Change pollutant features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Integrate real-time API sources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 new visualizations or UI elements</a:t>
            </a:r>
          </a:p>
          <a:p>
            <a:pPr marL="0" indent="0"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9. Deployment (Optional)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Deploy using:</a:t>
            </a:r>
          </a:p>
          <a:p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Streamlit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Cloud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Heroku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Render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AWS / Azure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1800" dirty="0"/>
          </a:p>
        </p:txBody>
      </p:sp>
    </p:spTree>
    <p:extLst>
      <p:ext uri="{BB962C8B-B14F-4D97-AF65-F5344CB8AC3E}">
        <p14:creationId xmlns:p14="http://schemas.microsoft.com/office/powerpoint/2010/main" val="304476556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99BCAE-2068-950E-9692-815C13CA68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078798"/>
            <a:ext cx="8229600" cy="1143000"/>
          </a:xfrm>
        </p:spPr>
        <p:txBody>
          <a:bodyPr>
            <a:noAutofit/>
          </a:bodyPr>
          <a:lstStyle/>
          <a:p>
            <a:r>
              <a:rPr lang="en-US" sz="8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YOU!!!</a:t>
            </a:r>
            <a:endParaRPr lang="en-IN" sz="8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06833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</TotalTime>
  <Words>2274</Words>
  <Application>Microsoft Office PowerPoint</Application>
  <PresentationFormat>On-screen Show (4:3)</PresentationFormat>
  <Paragraphs>306</Paragraphs>
  <Slides>25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Arial</vt:lpstr>
      <vt:lpstr>Calibri</vt:lpstr>
      <vt:lpstr>Times New Roman</vt:lpstr>
      <vt:lpstr>Wingdings</vt:lpstr>
      <vt:lpstr>Office Theme</vt:lpstr>
      <vt:lpstr>PowerPoint Presentation</vt:lpstr>
      <vt:lpstr>PowerPoint Presentation</vt:lpstr>
      <vt:lpstr>Project Overview</vt:lpstr>
      <vt:lpstr>Tech Tools &amp; Technologies Implemented </vt:lpstr>
      <vt:lpstr>Understanding AQI (Air Quality Index)</vt:lpstr>
      <vt:lpstr>PowerPoint Presentation</vt:lpstr>
      <vt:lpstr>How to Measure AQI Factors</vt:lpstr>
      <vt:lpstr>PowerPoint Presentation</vt:lpstr>
      <vt:lpstr>AQI Monitoring Agencies &amp; Applications</vt:lpstr>
      <vt:lpstr>Major Contributors to Air Pollution </vt:lpstr>
      <vt:lpstr>PowerPoint Presentation</vt:lpstr>
      <vt:lpstr>Impact of Air Pollution on Humans &amp; the Earth </vt:lpstr>
      <vt:lpstr>Harmful Effects on the Earth &amp; Environment </vt:lpstr>
      <vt:lpstr>Solutions to Reduce Air Pollution </vt:lpstr>
      <vt:lpstr>PowerPoint Presentation</vt:lpstr>
      <vt:lpstr>Impact of the Project on Earth, Humanity &amp; the World </vt:lpstr>
      <vt:lpstr>🧠 Coding Details (Tech Stack Used) </vt:lpstr>
      <vt:lpstr>How the Project Solves the Problem </vt:lpstr>
      <vt:lpstr>🌟 Future Enhancements </vt:lpstr>
      <vt:lpstr>Dashboards</vt:lpstr>
      <vt:lpstr>PowerPoint Presentation</vt:lpstr>
      <vt:lpstr>Steps to Run the Project </vt:lpstr>
      <vt:lpstr>PowerPoint Presentation</vt:lpstr>
      <vt:lpstr>PowerPoint Presentation</vt:lpstr>
      <vt:lpstr>THANK YOU!!!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HARI</dc:creator>
  <cp:keywords/>
  <dc:description>generated using python-pptx</dc:description>
  <cp:lastModifiedBy>Harivardhini K</cp:lastModifiedBy>
  <cp:revision>12</cp:revision>
  <dcterms:created xsi:type="dcterms:W3CDTF">2013-01-27T09:14:16Z</dcterms:created>
  <dcterms:modified xsi:type="dcterms:W3CDTF">2025-11-16T02:48:42Z</dcterms:modified>
  <cp:category/>
</cp:coreProperties>
</file>